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8" r:id="rId6"/>
    <p:sldId id="278" r:id="rId7"/>
    <p:sldId id="279" r:id="rId8"/>
    <p:sldId id="280" r:id="rId9"/>
    <p:sldId id="259" r:id="rId10"/>
    <p:sldId id="27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1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3164"/>
    <a:srgbClr val="225B5F"/>
    <a:srgbClr val="E6E6E6"/>
    <a:srgbClr val="0F1722"/>
    <a:srgbClr val="348151"/>
    <a:srgbClr val="1B2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258" y="96"/>
      </p:cViewPr>
      <p:guideLst>
        <p:guide orient="horz" pos="2160"/>
        <p:guide pos="3840"/>
        <p:guide orient="horz" pos="3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E4FC509-A25D-4AC1-956B-244FAC61AF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EDCBDF-04F2-4646-A118-9A2CBABEDF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3C146-E2BA-41EA-8AE9-0C67692768F2}" type="datetimeFigureOut">
              <a:rPr lang="en-US" smtClean="0"/>
              <a:t>4/12/2025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BD4EF4-9023-4CAF-937E-F78CF009DB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00887-CA61-4CEF-BD28-E51D6F957D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0C303-0EDA-42E1-9745-6C6A39A7B5C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766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D3EB6-8099-4744-9273-C8C1DD61A2EA}" type="datetimeFigureOut">
              <a:rPr lang="en-US" noProof="0" smtClean="0"/>
              <a:t>4/12/2025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C40A10-6036-4879-816D-55C01FC94846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573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8196A9-689D-4410-BFC0-7ACB19755A0C}"/>
              </a:ext>
            </a:extLst>
          </p:cNvPr>
          <p:cNvSpPr/>
          <p:nvPr userDrawn="1"/>
        </p:nvSpPr>
        <p:spPr>
          <a:xfrm>
            <a:off x="0" y="0"/>
            <a:ext cx="12192000" cy="4416552"/>
          </a:xfrm>
          <a:prstGeom prst="rect">
            <a:avLst/>
          </a:prstGeom>
          <a:blipFill>
            <a:blip r:embed="rId2"/>
            <a:srcRect/>
            <a:stretch>
              <a:fillRect l="-842" r="-84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A313B4B-5B98-4B33-885A-DF7669E72D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336" y="1172982"/>
            <a:ext cx="1481328" cy="7589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3619265" y="2253996"/>
            <a:ext cx="4953471" cy="100584"/>
            <a:chOff x="3631692" y="2253996"/>
            <a:chExt cx="4953471" cy="10058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3631692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8484579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4652581" y="5305363"/>
            <a:ext cx="2886839" cy="100584"/>
            <a:chOff x="3631690" y="2253996"/>
            <a:chExt cx="5028467" cy="10058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8484578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42463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799DC18-D353-427C-B849-0204F13D9B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83300" cy="68580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33599"/>
            <a:ext cx="4618957" cy="2492461"/>
          </a:xfrm>
        </p:spPr>
        <p:txBody>
          <a:bodyPr lIns="0" tIns="0" rIns="0" bIns="0" anchor="b" anchorCtr="0">
            <a:noAutofit/>
          </a:bodyPr>
          <a:lstStyle>
            <a:lvl1pPr>
              <a:defRPr sz="6000"/>
            </a:lvl1pPr>
          </a:lstStyle>
          <a:p>
            <a:r>
              <a:rPr lang="en-US" noProof="0"/>
              <a:t>PITCH</a:t>
            </a:r>
            <a:br>
              <a:rPr lang="en-US" noProof="0"/>
            </a:br>
            <a:r>
              <a:rPr lang="en-US" noProof="0"/>
              <a:t>DECK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1947412"/>
            <a:ext cx="2520148" cy="102440"/>
            <a:chOff x="3631690" y="2252140"/>
            <a:chExt cx="4389743" cy="1024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5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7845854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654084"/>
            <a:ext cx="2520148" cy="100584"/>
            <a:chOff x="3631690" y="2253996"/>
            <a:chExt cx="4389742" cy="100584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4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7845853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Subtitle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889444"/>
            <a:ext cx="4618957" cy="590626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293BA4F-7776-4C41-BE4F-7247935D5C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6368" y="3079602"/>
            <a:ext cx="1481328" cy="7589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7692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5021940" cy="80433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205904" cy="5690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3434400" cy="100800"/>
            <a:chOff x="0" y="3240138"/>
            <a:chExt cx="3434400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333600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215201" cy="132833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DE71F7A0-F439-470D-A1B8-556C960D11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3003" y="2490534"/>
            <a:ext cx="6083300" cy="25877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3996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090118"/>
            <a:ext cx="4494133" cy="80433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243662"/>
            <a:ext cx="4473108" cy="5690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924675" y="1993043"/>
            <a:ext cx="5267325" cy="100800"/>
            <a:chOff x="0" y="3240138"/>
            <a:chExt cx="3434400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2868443"/>
            <a:ext cx="4482996" cy="2432603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0861AA2-8248-462C-B6D8-FFD829F41E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54411" y="1472184"/>
            <a:ext cx="3246204" cy="5385816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4763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ayout 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19359"/>
            <a:ext cx="5021940" cy="80433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122284"/>
            <a:ext cx="3434400" cy="100800"/>
            <a:chOff x="0" y="3240138"/>
            <a:chExt cx="3434400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333600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C9D5785-B116-4BE7-AC26-5CD6481FFA6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392200"/>
            <a:ext cx="5009495" cy="2210173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278C2B8F-0B29-449C-AFFD-42BB56FA15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8356" y="-20834"/>
            <a:ext cx="5245444" cy="5385816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10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317" y="707529"/>
            <a:ext cx="4494133" cy="569086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00317" y="1625821"/>
            <a:ext cx="4473108" cy="5690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430402" y="1375202"/>
            <a:ext cx="5761598" cy="100800"/>
            <a:chOff x="-322276" y="3240138"/>
            <a:chExt cx="3756676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76" y="3290538"/>
              <a:ext cx="370627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920469" y="3291840"/>
            <a:ext cx="2670048" cy="64008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EDA47E0-9B2C-45BF-A34A-E7069690AE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90460" y="3273552"/>
            <a:ext cx="640080" cy="65836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1850" y="3291840"/>
            <a:ext cx="1209357" cy="64008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7A796C4-1255-4B26-B034-EFB1284B77E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920469" y="4427608"/>
            <a:ext cx="2670048" cy="64008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7F406E84-6EA1-4D34-8016-6A41F065FF7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090460" y="4409320"/>
            <a:ext cx="640080" cy="65836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965133B-076D-4FAD-8D2A-C24FE2619C8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31850" y="4427608"/>
            <a:ext cx="1209357" cy="64008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ABE6307-1A20-419D-A352-17FF0286600B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9426" y="3291840"/>
            <a:ext cx="2670048" cy="64008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D2C5C227-18EE-4D6A-AA31-30B8F7CD20A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719417" y="3273552"/>
            <a:ext cx="640080" cy="65836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6ABEA821-83E0-4C10-98A8-5F29E246F74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460807" y="3291840"/>
            <a:ext cx="1209357" cy="64008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text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A1DC741-B44F-4275-A1D5-B8D26A3390B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549426" y="4427608"/>
            <a:ext cx="2670048" cy="64008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C550F6C4-BE33-415F-B0BC-B47EDC1BDA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719417" y="4409320"/>
            <a:ext cx="640080" cy="65836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4C0830D2-D692-4161-8ECB-338703C9435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60807" y="4427608"/>
            <a:ext cx="1209357" cy="64008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331145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nitor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4464049" cy="80433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443165" cy="5690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CF4ED1-C6C8-4C5C-8C14-4FF197588C03}"/>
              </a:ext>
            </a:extLst>
          </p:cNvPr>
          <p:cNvSpPr/>
          <p:nvPr userDrawn="1"/>
        </p:nvSpPr>
        <p:spPr>
          <a:xfrm>
            <a:off x="6192163" y="1435133"/>
            <a:ext cx="5175504" cy="418795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/>
            <a:stretch>
              <a:fillRect t="1504" b="1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3434400" cy="100800"/>
            <a:chOff x="0" y="3240138"/>
            <a:chExt cx="3434400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333600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452987" cy="1328330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B3AB3-C02D-418C-A9E2-AA65DE7835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62829" y="1673942"/>
            <a:ext cx="4853962" cy="3141406"/>
          </a:xfrm>
          <a:ln w="2540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988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093DA11F-BC94-447C-B660-9C906BED01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682496"/>
            <a:ext cx="12191999" cy="349300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3976" y="696584"/>
            <a:ext cx="4464049" cy="569086"/>
          </a:xfrm>
        </p:spPr>
        <p:txBody>
          <a:bodyPr lIns="0" tIns="0" rIns="0" bIns="0" anchor="b">
            <a:normAutofit/>
          </a:bodyPr>
          <a:lstStyle>
            <a:lvl1pPr algn="ctr"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84860" y="1983086"/>
            <a:ext cx="4443165" cy="569085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8842051-6173-4CC2-8C4A-8AE31FE7BA54}"/>
              </a:ext>
            </a:extLst>
          </p:cNvPr>
          <p:cNvGrpSpPr/>
          <p:nvPr userDrawn="1"/>
        </p:nvGrpSpPr>
        <p:grpSpPr>
          <a:xfrm>
            <a:off x="5124396" y="1373283"/>
            <a:ext cx="1943208" cy="100800"/>
            <a:chOff x="3149478" y="1373283"/>
            <a:chExt cx="1943208" cy="1008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7317392-EF87-4050-8BBE-32F74B0CF15A}"/>
                </a:ext>
              </a:extLst>
            </p:cNvPr>
            <p:cNvGrpSpPr/>
            <p:nvPr userDrawn="1"/>
          </p:nvGrpSpPr>
          <p:grpSpPr>
            <a:xfrm>
              <a:off x="3149478" y="1373283"/>
              <a:ext cx="1943208" cy="100800"/>
              <a:chOff x="0" y="3237441"/>
              <a:chExt cx="1943208" cy="10080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85A4134-866D-4143-AC1E-8A2FFDB49855}"/>
                  </a:ext>
                </a:extLst>
              </p:cNvPr>
              <p:cNvCxnSpPr/>
              <p:nvPr userDrawn="1"/>
            </p:nvCxnSpPr>
            <p:spPr>
              <a:xfrm>
                <a:off x="0" y="3290538"/>
                <a:ext cx="189280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BBC5D9C-B8FB-455B-9398-36DB21F2765E}"/>
                  </a:ext>
                </a:extLst>
              </p:cNvPr>
              <p:cNvSpPr/>
              <p:nvPr userDrawn="1"/>
            </p:nvSpPr>
            <p:spPr>
              <a:xfrm>
                <a:off x="1842408" y="3237441"/>
                <a:ext cx="100800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D1C3636-C306-4492-8D46-194288459CAF}"/>
                </a:ext>
              </a:extLst>
            </p:cNvPr>
            <p:cNvSpPr/>
            <p:nvPr userDrawn="1"/>
          </p:nvSpPr>
          <p:spPr>
            <a:xfrm>
              <a:off x="3149478" y="1373283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35028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anchor="b">
            <a:normAutofit/>
          </a:bodyPr>
          <a:lstStyle>
            <a:lvl1pPr algn="r">
              <a:defRPr sz="3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7179281" y="1375202"/>
            <a:ext cx="5012719" cy="100800"/>
            <a:chOff x="304632" y="3240138"/>
            <a:chExt cx="3129768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632" y="3290538"/>
              <a:ext cx="307937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226927" y="4271296"/>
            <a:ext cx="2944368" cy="141982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226927" y="3858610"/>
            <a:ext cx="2944368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6927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871314" y="4271296"/>
            <a:ext cx="2944368" cy="141982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7A54608E-523B-47AC-B8A6-3E8FE9A15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1314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871314" y="3858610"/>
            <a:ext cx="2944368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E0D32F26-CEE2-4420-A43D-B008AE2D1DD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8515702" y="4271296"/>
            <a:ext cx="2944368" cy="141982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DBC2890A-FFF7-4606-A262-6D464BA5D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15702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268E1254-8C59-4B9B-A775-45CA3D65551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515702" y="3858610"/>
            <a:ext cx="2944368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E47DC43-D8A0-4F17-B897-D8B07A6F1B47}"/>
              </a:ext>
            </a:extLst>
          </p:cNvPr>
          <p:cNvCxnSpPr/>
          <p:nvPr userDrawn="1"/>
        </p:nvCxnSpPr>
        <p:spPr>
          <a:xfrm>
            <a:off x="2205335" y="3256107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01F265-08ED-497A-BE5C-62220829348F}"/>
              </a:ext>
            </a:extLst>
          </p:cNvPr>
          <p:cNvCxnSpPr/>
          <p:nvPr userDrawn="1"/>
        </p:nvCxnSpPr>
        <p:spPr>
          <a:xfrm>
            <a:off x="5849839" y="3255785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34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16" y="707529"/>
            <a:ext cx="7118056" cy="569086"/>
          </a:xfrm>
        </p:spPr>
        <p:txBody>
          <a:bodyPr lIns="0" tIns="0" rIns="0" bIns="0"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92016" y="1625821"/>
            <a:ext cx="7096709" cy="97840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4314481" y="1375202"/>
            <a:ext cx="7877519" cy="100800"/>
            <a:chOff x="245550" y="3240138"/>
            <a:chExt cx="4015976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  <a:endCxn id="13" idx="6"/>
            </p:cNvCxnSpPr>
            <p:nvPr userDrawn="1"/>
          </p:nvCxnSpPr>
          <p:spPr>
            <a:xfrm>
              <a:off x="245550" y="3290538"/>
              <a:ext cx="401597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210138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723" y="3301941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$12,345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716329" y="3394494"/>
            <a:ext cx="5678300" cy="97840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292016" y="3394494"/>
            <a:ext cx="1399099" cy="978407"/>
          </a:xfr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EA5D8D7D-F37C-49AD-98F0-641CE42B8A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723" y="4594663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l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$6,789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21FF93D-8384-4E22-8645-BDE6AB98348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716329" y="4687216"/>
            <a:ext cx="5678300" cy="978407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BA358F36-EA77-462E-9158-AFDF1D449A1A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292016" y="4687216"/>
            <a:ext cx="1399099" cy="978407"/>
          </a:xfr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411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ayout with 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3242645"/>
            <a:ext cx="4464049" cy="117717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4872948"/>
            <a:ext cx="4443165" cy="88206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4581382"/>
            <a:ext cx="4370400" cy="100800"/>
            <a:chOff x="-1228304" y="3240138"/>
            <a:chExt cx="4370400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4320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041296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33023" y="4551485"/>
            <a:ext cx="5855702" cy="1208079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DC059E4-36DE-4100-8F15-85A9F37E84FE}"/>
              </a:ext>
            </a:extLst>
          </p:cNvPr>
          <p:cNvSpPr/>
          <p:nvPr userDrawn="1"/>
        </p:nvSpPr>
        <p:spPr>
          <a:xfrm>
            <a:off x="3616960" y="859665"/>
            <a:ext cx="2121408" cy="212140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E475F8-9B44-4A3E-9F99-CF0346C89B8E}"/>
              </a:ext>
            </a:extLst>
          </p:cNvPr>
          <p:cNvSpPr/>
          <p:nvPr userDrawn="1"/>
        </p:nvSpPr>
        <p:spPr>
          <a:xfrm>
            <a:off x="5522965" y="836613"/>
            <a:ext cx="2816352" cy="28163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F5FAF95-28E9-4D03-884C-A89CBC8B61DC}"/>
              </a:ext>
            </a:extLst>
          </p:cNvPr>
          <p:cNvSpPr/>
          <p:nvPr userDrawn="1"/>
        </p:nvSpPr>
        <p:spPr>
          <a:xfrm>
            <a:off x="8123915" y="859665"/>
            <a:ext cx="3273552" cy="32735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F221D05-AC12-4B7C-A00B-E28F93E23D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51931" y="1382322"/>
            <a:ext cx="168109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$25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3904B01-A725-4CE3-9321-D42F3E296703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27524" y="2363691"/>
            <a:ext cx="1519848" cy="617093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1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9CE08AF-782B-4514-BE33-D3AED71A734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06132" y="1185842"/>
            <a:ext cx="1519848" cy="250619"/>
          </a:xfrm>
        </p:spPr>
        <p:txBody>
          <a:bodyPr lIns="0" tIns="0" rIns="0" bIns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BILLION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614098B4-704D-42A8-B776-2C93C30C3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13495" y="1767897"/>
            <a:ext cx="168109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$50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CE6465F4-0B4D-4B43-BE59-BC984FE8EF0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189088" y="2753338"/>
            <a:ext cx="1519848" cy="617093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1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4DBC997E-F996-4F59-A610-3C8558F180C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67696" y="1537655"/>
            <a:ext cx="1519848" cy="250619"/>
          </a:xfrm>
        </p:spPr>
        <p:txBody>
          <a:bodyPr lIns="0" tIns="0" rIns="0" bIns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BILLION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D2098E46-8023-469E-86ED-39848BCA69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14444" y="2049128"/>
            <a:ext cx="2010420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$100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93715D94-9DBE-476D-B2A4-208BC6D40C3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981735" y="3034569"/>
            <a:ext cx="1519848" cy="617093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Section 1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C6E1A50B-8AFF-497B-8AEC-C61D95DC068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089050" y="1818886"/>
            <a:ext cx="1519848" cy="250619"/>
          </a:xfrm>
        </p:spPr>
        <p:txBody>
          <a:bodyPr lIns="0" tIns="0" rIns="0" bIns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BILLION</a:t>
            </a:r>
          </a:p>
        </p:txBody>
      </p:sp>
    </p:spTree>
    <p:extLst>
      <p:ext uri="{BB962C8B-B14F-4D97-AF65-F5344CB8AC3E}">
        <p14:creationId xmlns:p14="http://schemas.microsoft.com/office/powerpoint/2010/main" val="3942925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1625821"/>
            <a:ext cx="5292725" cy="97840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31851" y="3335524"/>
            <a:ext cx="4817836" cy="2248846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905291"/>
            <a:ext cx="2915732" cy="360000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8826" y="2905291"/>
            <a:ext cx="2915732" cy="360000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8086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105" y="707529"/>
            <a:ext cx="3704150" cy="569086"/>
          </a:xfrm>
        </p:spPr>
        <p:txBody>
          <a:bodyPr lIns="0" tIns="0" rIns="0" bIns="0"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>
            <a:off x="-6" y="1374243"/>
            <a:ext cx="4319045" cy="100800"/>
            <a:chOff x="646012" y="3239179"/>
            <a:chExt cx="2201856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2" y="3290538"/>
              <a:ext cx="216563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2796480" y="3239179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Picture Placeholder 11" descr="Competitors logos quadrant">
            <a:extLst>
              <a:ext uri="{FF2B5EF4-FFF2-40B4-BE49-F238E27FC236}">
                <a16:creationId xmlns:a16="http://schemas.microsoft.com/office/drawing/2014/main" id="{58A093A6-410B-4E4B-BA54-D31E8313D9B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928670" y="2872719"/>
            <a:ext cx="1772153" cy="777240"/>
          </a:xfrm>
          <a:noFill/>
        </p:spPr>
        <p:txBody>
          <a:bodyPr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Competitor 2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2" name="Picture Placeholder 11" descr="Competitors logos quadrant">
            <a:extLst>
              <a:ext uri="{FF2B5EF4-FFF2-40B4-BE49-F238E27FC236}">
                <a16:creationId xmlns:a16="http://schemas.microsoft.com/office/drawing/2014/main" id="{C852F764-614E-4E0D-B231-E5EF9B5D3AFE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06105" y="2171148"/>
            <a:ext cx="1655064" cy="777240"/>
          </a:xfrm>
          <a:noFill/>
        </p:spPr>
        <p:txBody>
          <a:bodyPr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Competitor 1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5" name="Picture Placeholder 11" descr="Competitors logos quadrant">
            <a:extLst>
              <a:ext uri="{FF2B5EF4-FFF2-40B4-BE49-F238E27FC236}">
                <a16:creationId xmlns:a16="http://schemas.microsoft.com/office/drawing/2014/main" id="{0349F007-C349-4EF3-A61F-86C43BEB547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729582" y="4456262"/>
            <a:ext cx="1772153" cy="777240"/>
          </a:xfrm>
          <a:noFill/>
        </p:spPr>
        <p:txBody>
          <a:bodyPr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Competitor 3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6" name="Picture Placeholder 11" descr="Competitors logos quadrant">
            <a:extLst>
              <a:ext uri="{FF2B5EF4-FFF2-40B4-BE49-F238E27FC236}">
                <a16:creationId xmlns:a16="http://schemas.microsoft.com/office/drawing/2014/main" id="{FEA8BDDC-623F-4C67-AD04-E7801B53701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829546" y="2770168"/>
            <a:ext cx="1772153" cy="777240"/>
          </a:xfrm>
          <a:noFill/>
        </p:spPr>
        <p:txBody>
          <a:bodyPr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Competitor 4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7" name="Picture Placeholder 11" descr="Competitors logos quadrant">
            <a:extLst>
              <a:ext uri="{FF2B5EF4-FFF2-40B4-BE49-F238E27FC236}">
                <a16:creationId xmlns:a16="http://schemas.microsoft.com/office/drawing/2014/main" id="{28B0D00B-97E7-4133-B35A-AC2EF334CD2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610067" y="4588832"/>
            <a:ext cx="1772153" cy="777240"/>
          </a:xfrm>
          <a:noFill/>
        </p:spPr>
        <p:txBody>
          <a:bodyPr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Competitor 5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8" name="Picture Placeholder 11" descr="Competitors logos quadrant">
            <a:extLst>
              <a:ext uri="{FF2B5EF4-FFF2-40B4-BE49-F238E27FC236}">
                <a16:creationId xmlns:a16="http://schemas.microsoft.com/office/drawing/2014/main" id="{8D1A7417-EFAD-46F6-ADA5-117D4C7B1A9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571158" y="4977452"/>
            <a:ext cx="1772153" cy="777240"/>
          </a:xfrm>
          <a:noFill/>
        </p:spPr>
        <p:txBody>
          <a:bodyPr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Competitor 6</a:t>
            </a:r>
          </a:p>
          <a:p>
            <a:r>
              <a:rPr lang="en-US" noProof="0" dirty="0"/>
              <a:t>Logo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4B80E14-BBC8-42CC-8777-FFF50D168A0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9869" y="3642757"/>
            <a:ext cx="2741612" cy="248888"/>
          </a:xfrm>
        </p:spPr>
        <p:txBody>
          <a:bodyPr wrap="square" lIns="0" tIns="0" rIns="0" bIns="0">
            <a:no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More expensive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5033551-3DD0-4EBE-8DFD-9335F8BA926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15481" y="5884080"/>
            <a:ext cx="2741612" cy="248888"/>
          </a:xfr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Less convenient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CC507E62-D7F3-4E81-8DE2-5A7084588A3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5481" y="1343118"/>
            <a:ext cx="2741612" cy="248888"/>
          </a:xfr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More convenient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61EF622D-8E08-41C3-BEBA-2274C2AB48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17999" y="1977257"/>
            <a:ext cx="1481328" cy="758952"/>
          </a:xfrm>
          <a:noFill/>
          <a:ln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90ADA54-0156-49A9-AEF7-A4972EEB15A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651686" y="3642757"/>
            <a:ext cx="2741612" cy="248888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/>
            <a:r>
              <a:rPr lang="en-US" noProof="0"/>
              <a:t>Less expensive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193FB7-0142-40DD-9186-F3156B0AE4B0}"/>
              </a:ext>
            </a:extLst>
          </p:cNvPr>
          <p:cNvGrpSpPr/>
          <p:nvPr userDrawn="1"/>
        </p:nvGrpSpPr>
        <p:grpSpPr>
          <a:xfrm>
            <a:off x="6045600" y="1376748"/>
            <a:ext cx="100800" cy="5481252"/>
            <a:chOff x="6045600" y="1376748"/>
            <a:chExt cx="100800" cy="5481252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D1389D4-2EB7-40E2-B21B-4EE70FCA2236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3389377" y="4151376"/>
              <a:ext cx="541324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A48E795-AD00-4819-94E4-A5211D331715}"/>
                </a:ext>
              </a:extLst>
            </p:cNvPr>
            <p:cNvSpPr/>
            <p:nvPr userDrawn="1"/>
          </p:nvSpPr>
          <p:spPr>
            <a:xfrm>
              <a:off x="6045600" y="137674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1BD97BD-35F4-4534-8B74-24D44A99BC58}"/>
              </a:ext>
            </a:extLst>
          </p:cNvPr>
          <p:cNvGrpSpPr/>
          <p:nvPr userDrawn="1"/>
        </p:nvGrpSpPr>
        <p:grpSpPr>
          <a:xfrm rot="5400000">
            <a:off x="5669857" y="-1673474"/>
            <a:ext cx="100800" cy="11440514"/>
            <a:chOff x="6045600" y="1329588"/>
            <a:chExt cx="100800" cy="11440514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8351F13-467F-49F8-8279-C5B29A51798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08032" y="7082102"/>
              <a:ext cx="1137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9AA12FA-7959-4581-B344-DF9E7B0AD37A}"/>
                </a:ext>
              </a:extLst>
            </p:cNvPr>
            <p:cNvSpPr/>
            <p:nvPr userDrawn="1"/>
          </p:nvSpPr>
          <p:spPr>
            <a:xfrm>
              <a:off x="6045600" y="132958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39558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ection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512271"/>
            <a:ext cx="2828198" cy="128683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148315"/>
            <a:ext cx="2216876" cy="209813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97696"/>
            <a:ext cx="3360726" cy="100800"/>
            <a:chOff x="0" y="3240138"/>
            <a:chExt cx="3360726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276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259926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DA80730C-5AC9-41A0-ACC5-624F0652D6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5261" y="2631676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7200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515B23A8-23EB-4E6E-A24C-4154570D7DC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6251" y="2015540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12919ED-FD55-4081-BB4A-2B2FDA3BED1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97240" y="1239687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A6259C-432B-4405-9E82-995AF092FB7A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4068065" y="1728891"/>
            <a:ext cx="1792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3BC485E-8BCE-479F-A7E9-7F9E193E6E96}"/>
              </a:ext>
            </a:extLst>
          </p:cNvPr>
          <p:cNvCxnSpPr>
            <a:cxnSpLocks/>
          </p:cNvCxnSpPr>
          <p:nvPr userDrawn="1"/>
        </p:nvCxnSpPr>
        <p:spPr>
          <a:xfrm>
            <a:off x="4964465" y="836613"/>
            <a:ext cx="592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094BC6-BA16-4E05-868C-3AE971AF3DA4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10688444" y="1030491"/>
            <a:ext cx="3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130EC6-4A8D-447F-862E-E5A693E68C8C}"/>
              </a:ext>
            </a:extLst>
          </p:cNvPr>
          <p:cNvCxnSpPr>
            <a:cxnSpLocks/>
          </p:cNvCxnSpPr>
          <p:nvPr userDrawn="1"/>
        </p:nvCxnSpPr>
        <p:spPr>
          <a:xfrm flipV="1">
            <a:off x="7925455" y="837355"/>
            <a:ext cx="0" cy="1178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151266" y="4543170"/>
            <a:ext cx="2589369" cy="1280958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151265" y="4246467"/>
            <a:ext cx="2415199" cy="236141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3151265" y="3883902"/>
            <a:ext cx="2415199" cy="360000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FE2A8C5-F462-436C-B748-BBE5D58CB8B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48861" y="3849559"/>
            <a:ext cx="2589369" cy="1786953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586DAC0D-9859-40A1-8456-F0B43D96718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048860" y="3552857"/>
            <a:ext cx="2415199" cy="236141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37B983EE-F89D-4F09-8A9F-2347FA36421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048860" y="3190292"/>
            <a:ext cx="2415199" cy="360000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D30DD128-A937-4A2F-B070-523A5BAAE260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975159" y="3147170"/>
            <a:ext cx="2589369" cy="2311934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5737B87C-E3C0-46B2-8B79-63EB6049150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8975158" y="2850467"/>
            <a:ext cx="2415199" cy="236141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22F76863-7DCD-4365-80F0-001D51F08779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8975158" y="2487902"/>
            <a:ext cx="2415199" cy="360000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3078273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Chart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031832"/>
            <a:ext cx="2915732" cy="360000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6000" y="2031832"/>
            <a:ext cx="2915732" cy="360000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6F8EF-728B-45C1-87D8-4AD8FA8F371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03275" y="2524125"/>
            <a:ext cx="4970463" cy="29352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395C5B4-6B03-4F70-96F8-3AE3A7817B5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96000" y="2524125"/>
            <a:ext cx="4970463" cy="293528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78915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6466" y="707529"/>
            <a:ext cx="2673606" cy="569086"/>
          </a:xfrm>
        </p:spPr>
        <p:txBody>
          <a:bodyPr lIns="0" tIns="0" rIns="0" bIns="0" anchor="b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TIMELINE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7803" y="1625821"/>
            <a:ext cx="2262267" cy="2021536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9186215" y="1375202"/>
            <a:ext cx="3005785" cy="100800"/>
            <a:chOff x="2729180" y="3240138"/>
            <a:chExt cx="1532346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29180" y="3290538"/>
              <a:ext cx="1504927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210138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18284" y="685667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30241" y="1079309"/>
            <a:ext cx="2810591" cy="75886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930241" y="786637"/>
            <a:ext cx="2810591" cy="292671"/>
          </a:xfr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D3A3AB-488E-4090-9FD5-E005D5A9ECF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2094269" y="3429000"/>
            <a:ext cx="685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D6729DC-C5B3-485B-B5CD-F06FC3CAFD9A}"/>
              </a:ext>
            </a:extLst>
          </p:cNvPr>
          <p:cNvSpPr/>
          <p:nvPr userDrawn="1"/>
        </p:nvSpPr>
        <p:spPr>
          <a:xfrm>
            <a:off x="5372392" y="959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4046DD7-8FB2-43D4-8E94-3D35DC3E2891}"/>
              </a:ext>
            </a:extLst>
          </p:cNvPr>
          <p:cNvSpPr/>
          <p:nvPr userDrawn="1"/>
        </p:nvSpPr>
        <p:spPr>
          <a:xfrm>
            <a:off x="5372392" y="5362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320A73A-D3CB-4E04-B7E2-F3696B8ACDEA}"/>
              </a:ext>
            </a:extLst>
          </p:cNvPr>
          <p:cNvSpPr/>
          <p:nvPr userDrawn="1"/>
        </p:nvSpPr>
        <p:spPr>
          <a:xfrm>
            <a:off x="5372392" y="2427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E2B01F0-78A8-41AE-95B8-811603402031}"/>
              </a:ext>
            </a:extLst>
          </p:cNvPr>
          <p:cNvSpPr/>
          <p:nvPr userDrawn="1"/>
        </p:nvSpPr>
        <p:spPr>
          <a:xfrm>
            <a:off x="5372392" y="3894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A70E382B-B932-45B7-BD95-6D722A4A248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930241" y="2532448"/>
            <a:ext cx="2810591" cy="75886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2F096B52-06C2-46DF-BB33-70D931283F16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5930241" y="2239776"/>
            <a:ext cx="2810591" cy="292671"/>
          </a:xfr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5D87FD43-95C9-4217-AD5F-FE02E28AD4C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930241" y="3985587"/>
            <a:ext cx="2810591" cy="75886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A6706CEB-523E-4248-9A66-5D139D8B0DE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930241" y="3692915"/>
            <a:ext cx="2810591" cy="292671"/>
          </a:xfr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6ADC931C-F9B2-467E-A024-CB5BE74BAD8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930241" y="5438727"/>
            <a:ext cx="2810591" cy="758864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0A301DE6-2E75-41F5-9314-B269815BA3F3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930241" y="5146055"/>
            <a:ext cx="2810591" cy="292671"/>
          </a:xfr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B9154606-4DE0-4DC7-830A-371423BE420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8284" y="2153566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5AC8C127-0F88-413C-B7BA-2ED0F81E7D4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8284" y="3621465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63C5707A-6E08-4B58-A5FE-40063DB6548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18284" y="5089363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+mj-lt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627535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60000"/>
            <a:ext cx="3911599" cy="117717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890303"/>
            <a:ext cx="3275463" cy="882062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598737"/>
            <a:ext cx="3764756" cy="100800"/>
            <a:chOff x="-1228304" y="3240138"/>
            <a:chExt cx="3764756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672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435652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3F646CE6-E75B-4112-896D-5A26E1F1520E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518150" y="860425"/>
            <a:ext cx="5870575" cy="486727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 smtClean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3923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608523"/>
            <a:ext cx="2828198" cy="128683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244567"/>
            <a:ext cx="2828198" cy="209813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2258048" cy="100800"/>
            <a:chOff x="0" y="3240138"/>
            <a:chExt cx="2258048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2160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157248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128617" y="4355032"/>
            <a:ext cx="2066544" cy="128095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128616" y="4042831"/>
            <a:ext cx="2066544" cy="282991"/>
          </a:xfrm>
        </p:spPr>
        <p:txBody>
          <a:bodyPr lIns="0" tIns="0" rIns="0" bIns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128616" y="3428999"/>
            <a:ext cx="2066544" cy="615618"/>
          </a:xfrm>
        </p:spPr>
        <p:txBody>
          <a:bodyPr lIns="0" tIns="0" rIns="0" bIns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84A57B-147A-4287-AA6B-E508A9222F7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30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5" name="Picture Placeholder 8">
            <a:extLst>
              <a:ext uri="{FF2B5EF4-FFF2-40B4-BE49-F238E27FC236}">
                <a16:creationId xmlns:a16="http://schemas.microsoft.com/office/drawing/2014/main" id="{9DBE0996-CEA3-41C3-A75A-84DC3C2B51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8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6" name="Picture Placeholder 8">
            <a:extLst>
              <a:ext uri="{FF2B5EF4-FFF2-40B4-BE49-F238E27FC236}">
                <a16:creationId xmlns:a16="http://schemas.microsoft.com/office/drawing/2014/main" id="{F7B28261-CB14-4E4E-AA66-A0239B3DD28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629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BAA53E0C-9536-4177-A63F-0E2565EC53C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127048" y="4355032"/>
            <a:ext cx="2066400" cy="128095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67EF8E36-183B-420B-AF25-17CFA963987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127047" y="4042831"/>
            <a:ext cx="2066400" cy="282991"/>
          </a:xfrm>
        </p:spPr>
        <p:txBody>
          <a:bodyPr lIns="0" tIns="0" rIns="0" bIns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58DA6E86-8039-4690-AFE1-7CCF07B7CBA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127047" y="3428999"/>
            <a:ext cx="2066400" cy="615618"/>
          </a:xfrm>
        </p:spPr>
        <p:txBody>
          <a:bodyPr lIns="0" tIns="0" rIns="0" bIns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933214B9-0452-4C8B-AB10-922F3C3BCF01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6629217" y="4355032"/>
            <a:ext cx="2066400" cy="128095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A5C23113-D98B-48C7-A675-4FD5F50333F3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629216" y="4042831"/>
            <a:ext cx="2066400" cy="282991"/>
          </a:xfrm>
        </p:spPr>
        <p:txBody>
          <a:bodyPr lIns="0" tIns="0" rIns="0" bIns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09781257-B563-41E0-B9E6-9C7330084BCC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6627903" y="3428999"/>
            <a:ext cx="2066400" cy="615618"/>
          </a:xfrm>
        </p:spPr>
        <p:txBody>
          <a:bodyPr lIns="0" tIns="0" rIns="0" bIns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A32EC27-ACD8-47C0-A3ED-E4ED58D88358}"/>
              </a:ext>
            </a:extLst>
          </p:cNvPr>
          <p:cNvCxnSpPr/>
          <p:nvPr userDrawn="1"/>
        </p:nvCxnSpPr>
        <p:spPr>
          <a:xfrm>
            <a:off x="6195160" y="2217849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9E8819A-135C-4A5C-9F6A-A3BE05AA294F}"/>
              </a:ext>
            </a:extLst>
          </p:cNvPr>
          <p:cNvCxnSpPr/>
          <p:nvPr userDrawn="1"/>
        </p:nvCxnSpPr>
        <p:spPr>
          <a:xfrm>
            <a:off x="8703909" y="2216687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3294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Content Lay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anchor="b">
            <a:normAutofit/>
          </a:bodyPr>
          <a:lstStyle>
            <a:lvl1pPr algn="r">
              <a:defRPr sz="36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7395281" y="1375202"/>
            <a:ext cx="4796719" cy="100800"/>
            <a:chOff x="439494" y="3240138"/>
            <a:chExt cx="2994906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9494" y="3290538"/>
              <a:ext cx="2944508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58968" y="3372939"/>
            <a:ext cx="2297722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958968" y="2960253"/>
            <a:ext cx="2297722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FF07C5-314A-4EA8-B78F-7A51C234D3A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21841" y="2764036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691060D-E361-43B0-BFD7-43D7CC4E5CCD}"/>
              </a:ext>
            </a:extLst>
          </p:cNvPr>
          <p:cNvCxnSpPr>
            <a:cxnSpLocks/>
          </p:cNvCxnSpPr>
          <p:nvPr userDrawn="1"/>
        </p:nvCxnSpPr>
        <p:spPr>
          <a:xfrm>
            <a:off x="0" y="3288596"/>
            <a:ext cx="72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957127" y="4800796"/>
            <a:ext cx="2297722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957127" y="4388110"/>
            <a:ext cx="2297722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0000" y="4191893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11670" y="4028309"/>
            <a:ext cx="32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CF15AB-FF8A-422B-840D-88503024E5D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708709" y="3372939"/>
            <a:ext cx="2297722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EFC2028F-7DFE-412D-97DF-707D128D95E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708709" y="2960253"/>
            <a:ext cx="2297722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4349A4F0-1181-4A58-BFD4-4783CD130356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5704578" y="4800796"/>
            <a:ext cx="2297722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DC1D5D83-8D32-491F-87EB-9DA9360D4F2B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5704578" y="4388110"/>
            <a:ext cx="2297722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8120723F-A42C-4B81-97FD-6F575E5C258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453870" y="3372939"/>
            <a:ext cx="2297722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27D068F1-398F-4D11-977C-080C8151C786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453870" y="2960253"/>
            <a:ext cx="2297722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B795705E-C5CB-46CC-9E41-D2269E07BC15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9452029" y="4800796"/>
            <a:ext cx="2297722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80211A2B-0F3C-4DBE-AE01-069AE7FC3468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9452029" y="4388110"/>
            <a:ext cx="2297722" cy="328343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E5E9742-C670-47AB-AA69-AE65D7915B06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31847" y="5364000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58712DB-5183-45D8-9ABB-6E07956580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7274194" y="5363999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417A32F4-3459-4A31-A90E-AA771FD4D49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467451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63549FA7-92E5-4DB1-92FA-15902DFD375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14902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0F62D330-6A30-4A65-89DA-EDFE4AAD343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469292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A3FC286B-05E7-4E48-A7FD-197800349118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216743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4313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461974"/>
            <a:ext cx="4464049" cy="117717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092276"/>
            <a:ext cx="4443165" cy="100884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11097"/>
            <a:ext cx="3149152" cy="100800"/>
            <a:chOff x="-1228304" y="3250524"/>
            <a:chExt cx="3149152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096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1820048" y="3250524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9A5180A6-7D2B-4341-A749-16387D907EEF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262770" y="4138611"/>
            <a:ext cx="1283894" cy="349611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9DFBEE7-50AA-4F4F-8B5D-AD23ECAD9919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262769" y="4499972"/>
            <a:ext cx="1285861" cy="24627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06EAF0C-F17D-47D6-BAA1-16745F4F70D9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3193135" y="4138611"/>
            <a:ext cx="1283894" cy="349611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D091E31C-C1DC-4D72-8C9E-3B6BD91E72AF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193134" y="4499972"/>
            <a:ext cx="1285861" cy="24627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F62E753C-C8BE-457D-9B22-6A8227347A67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5123499" y="4142294"/>
            <a:ext cx="1283894" cy="349611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BC1E8F6C-0BDD-4AFA-9E8D-5EF61AA59F50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5123498" y="4503655"/>
            <a:ext cx="1285861" cy="24627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C70C9772-55FF-4449-988F-6CDDE075E730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1262770" y="4826750"/>
            <a:ext cx="1283894" cy="349611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75EE6DCE-6A55-4D95-85F7-E22E3E268256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1262769" y="5188111"/>
            <a:ext cx="1285861" cy="24627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84DC7882-7541-4AEA-95FE-DDBCF6F9CA32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3193135" y="4826750"/>
            <a:ext cx="1283894" cy="349611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5542D500-4CD6-4FDE-9133-F8020797D9B5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3193134" y="5188111"/>
            <a:ext cx="1285861" cy="24627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500C362B-BA02-4F7D-86F6-3F6F2EF20D04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5123499" y="4830433"/>
            <a:ext cx="1283894" cy="349611"/>
          </a:xfrm>
        </p:spPr>
        <p:txBody>
          <a:bodyPr lIns="0" tIns="0" rIns="0" bIns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$ 1,500,000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E213E497-634E-40E7-BF08-765CC21529E2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5123498" y="5191794"/>
            <a:ext cx="1285861" cy="24627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Category Title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A01C659-0131-449B-BA07-5BC568F00BF0}"/>
              </a:ext>
            </a:extLst>
          </p:cNvPr>
          <p:cNvSpPr/>
          <p:nvPr userDrawn="1"/>
        </p:nvSpPr>
        <p:spPr>
          <a:xfrm>
            <a:off x="790959" y="4258650"/>
            <a:ext cx="384048" cy="3840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9CB80EA-A8D6-4099-9412-0C14095755FF}"/>
              </a:ext>
            </a:extLst>
          </p:cNvPr>
          <p:cNvSpPr/>
          <p:nvPr userDrawn="1"/>
        </p:nvSpPr>
        <p:spPr>
          <a:xfrm>
            <a:off x="790959" y="4965077"/>
            <a:ext cx="384048" cy="384048"/>
          </a:xfrm>
          <a:prstGeom prst="ellipse">
            <a:avLst/>
          </a:prstGeom>
          <a:solidFill>
            <a:srgbClr val="225B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E20CCE5-B889-49FE-8FA6-A6F0F11A5D91}"/>
              </a:ext>
            </a:extLst>
          </p:cNvPr>
          <p:cNvSpPr/>
          <p:nvPr userDrawn="1"/>
        </p:nvSpPr>
        <p:spPr>
          <a:xfrm>
            <a:off x="2725217" y="4261982"/>
            <a:ext cx="384048" cy="384048"/>
          </a:xfrm>
          <a:prstGeom prst="ellips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69A77E3-4AFB-45BB-8FDC-4AD084EA9D23}"/>
              </a:ext>
            </a:extLst>
          </p:cNvPr>
          <p:cNvSpPr/>
          <p:nvPr userDrawn="1"/>
        </p:nvSpPr>
        <p:spPr>
          <a:xfrm>
            <a:off x="2725217" y="4968409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A8B986-3280-4EAC-846B-9167ECC55646}"/>
              </a:ext>
            </a:extLst>
          </p:cNvPr>
          <p:cNvSpPr/>
          <p:nvPr userDrawn="1"/>
        </p:nvSpPr>
        <p:spPr>
          <a:xfrm>
            <a:off x="4660323" y="4257848"/>
            <a:ext cx="384048" cy="384048"/>
          </a:xfrm>
          <a:prstGeom prst="ellipse">
            <a:avLst/>
          </a:prstGeom>
          <a:solidFill>
            <a:srgbClr val="B531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AE6D315-5EC0-4956-B7BF-B94D2AFE679B}"/>
              </a:ext>
            </a:extLst>
          </p:cNvPr>
          <p:cNvSpPr/>
          <p:nvPr userDrawn="1"/>
        </p:nvSpPr>
        <p:spPr>
          <a:xfrm>
            <a:off x="4660323" y="4964275"/>
            <a:ext cx="384048" cy="38404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9ED8422E-0C74-45EF-B794-252146C6639A}"/>
              </a:ext>
            </a:extLst>
          </p:cNvPr>
          <p:cNvSpPr>
            <a:spLocks noGrp="1"/>
          </p:cNvSpPr>
          <p:nvPr>
            <p:ph type="chart" sz="quarter" idx="55"/>
          </p:nvPr>
        </p:nvSpPr>
        <p:spPr>
          <a:xfrm>
            <a:off x="6924675" y="860425"/>
            <a:ext cx="4483100" cy="457358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chart</a:t>
            </a:r>
            <a:endParaRPr lang="en-US" noProof="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8B7C827-F016-49F6-B775-FAC0E6420466}"/>
              </a:ext>
            </a:extLst>
          </p:cNvPr>
          <p:cNvSpPr/>
          <p:nvPr userDrawn="1"/>
        </p:nvSpPr>
        <p:spPr>
          <a:xfrm>
            <a:off x="6905624" y="905669"/>
            <a:ext cx="4483100" cy="448310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0F8D2C7-9093-4F92-B8A4-D819FEE69F1F}"/>
              </a:ext>
            </a:extLst>
          </p:cNvPr>
          <p:cNvSpPr/>
          <p:nvPr userDrawn="1"/>
        </p:nvSpPr>
        <p:spPr>
          <a:xfrm>
            <a:off x="8294757" y="2294802"/>
            <a:ext cx="1704834" cy="1704834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DE9D0C0-04C1-4621-8B2D-E65A25A8DCF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75514" y="450000"/>
            <a:ext cx="9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490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411243"/>
            <a:ext cx="4494133" cy="80433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564787"/>
            <a:ext cx="4473108" cy="56908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924675" y="2314168"/>
            <a:ext cx="5267325" cy="100800"/>
            <a:chOff x="0" y="3240138"/>
            <a:chExt cx="3434400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3189568"/>
            <a:ext cx="4482996" cy="2432603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CF430BFB-0A7C-4FB8-B93B-8DA19F3E63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710" y="1792784"/>
            <a:ext cx="6073999" cy="372160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869787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EF099F-79D2-486F-A4B2-DD4F699752C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6000" y="0"/>
            <a:ext cx="6089650" cy="68580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FF22294-F2E5-4C74-A30C-46BA988FD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9959" y="1546091"/>
            <a:ext cx="4846923" cy="1091078"/>
          </a:xfrm>
        </p:spPr>
        <p:txBody>
          <a:bodyPr lIns="0" tIns="0" rIns="0" bIns="0" anchor="b" anchorCtr="0">
            <a:noAutofit/>
          </a:bodyPr>
          <a:lstStyle>
            <a:lvl1pPr>
              <a:defRPr sz="5500"/>
            </a:lvl1pPr>
          </a:lstStyle>
          <a:p>
            <a:r>
              <a:rPr lang="en-US" noProof="0"/>
              <a:t>THANK YOU!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C5C0DA6-1B31-4BDF-BAEB-BF7978102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335" y="3083960"/>
            <a:ext cx="4586288" cy="509472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August Bergqvist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5E1647C9-9AC1-4500-A56E-94CABC656E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1850" y="3703834"/>
            <a:ext cx="4586288" cy="23094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7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Phone: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8605CECB-8164-4428-B478-98C42902F9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950" y="3946707"/>
            <a:ext cx="4586288" cy="2901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+7 888 999-000-11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D39B56C4-E128-4995-91CC-64C268BC76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750" y="4423954"/>
            <a:ext cx="4586288" cy="23094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Email: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4772DA1-74CC-430C-9A8E-5A6586692C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1850" y="4650785"/>
            <a:ext cx="4586288" cy="36447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Bergqvist@vanarsdelltd.com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073B5B-2BE3-49D1-A646-1492F534C9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1850" y="5153025"/>
            <a:ext cx="4586288" cy="23094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0"/>
              <a:t>Website: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52D10EDD-0329-4443-8665-7603E4A83B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4950" y="5363814"/>
            <a:ext cx="4586288" cy="36447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www.vanarsdelltd.com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591C52-0202-44BA-A6BE-E2362516B893}"/>
              </a:ext>
            </a:extLst>
          </p:cNvPr>
          <p:cNvGrpSpPr/>
          <p:nvPr userDrawn="1"/>
        </p:nvGrpSpPr>
        <p:grpSpPr>
          <a:xfrm>
            <a:off x="801543" y="2750589"/>
            <a:ext cx="4569895" cy="100800"/>
            <a:chOff x="808548" y="2750589"/>
            <a:chExt cx="4569895" cy="1008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808548" y="2750589"/>
              <a:ext cx="4505297" cy="100800"/>
              <a:chOff x="496859" y="3240138"/>
              <a:chExt cx="2937541" cy="10080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/>
              <p:nvPr userDrawn="1"/>
            </p:nvCxnSpPr>
            <p:spPr>
              <a:xfrm>
                <a:off x="496859" y="3285674"/>
                <a:ext cx="288714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ECBEDE0-51BB-48BD-AAAD-63B6F60C1D57}"/>
                </a:ext>
              </a:extLst>
            </p:cNvPr>
            <p:cNvSpPr/>
            <p:nvPr userDrawn="1"/>
          </p:nvSpPr>
          <p:spPr>
            <a:xfrm flipH="1">
              <a:off x="5277642" y="2750589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3E1608D-F119-4C0D-8D91-7CB089C037C8}"/>
              </a:ext>
            </a:extLst>
          </p:cNvPr>
          <p:cNvGrpSpPr/>
          <p:nvPr userDrawn="1"/>
        </p:nvGrpSpPr>
        <p:grpSpPr>
          <a:xfrm>
            <a:off x="801543" y="1660573"/>
            <a:ext cx="4575417" cy="105664"/>
            <a:chOff x="808548" y="2745725"/>
            <a:chExt cx="4575417" cy="10566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BDC0121-6865-4B65-A28B-1CEDB16AAD9E}"/>
                </a:ext>
              </a:extLst>
            </p:cNvPr>
            <p:cNvGrpSpPr/>
            <p:nvPr userDrawn="1"/>
          </p:nvGrpSpPr>
          <p:grpSpPr>
            <a:xfrm flipH="1">
              <a:off x="808548" y="2750589"/>
              <a:ext cx="4505297" cy="100800"/>
              <a:chOff x="496859" y="3240138"/>
              <a:chExt cx="2937541" cy="10080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86E3714-07DE-4318-B5BC-25F879B97D59}"/>
                  </a:ext>
                </a:extLst>
              </p:cNvPr>
              <p:cNvCxnSpPr/>
              <p:nvPr userDrawn="1"/>
            </p:nvCxnSpPr>
            <p:spPr>
              <a:xfrm>
                <a:off x="496859" y="3285674"/>
                <a:ext cx="288714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ECCE30B-E848-4C5E-83A1-A811D489E7B8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9817AEC-C67C-49A3-AC5A-669FD4D6D586}"/>
                </a:ext>
              </a:extLst>
            </p:cNvPr>
            <p:cNvSpPr/>
            <p:nvPr userDrawn="1"/>
          </p:nvSpPr>
          <p:spPr>
            <a:xfrm flipH="1">
              <a:off x="5283164" y="2745725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788394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5B5AA-0D95-4C33-8EBC-90401B51BD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32" y="1912946"/>
            <a:ext cx="12185968" cy="349300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8934" y="457496"/>
            <a:ext cx="4494133" cy="804338"/>
          </a:xfrm>
        </p:spPr>
        <p:txBody>
          <a:bodyPr lIns="0" tIns="0" rIns="0" bIns="0" anchor="b">
            <a:normAutofit/>
          </a:bodyPr>
          <a:lstStyle>
            <a:lvl1pPr algn="ctr">
              <a:defRPr sz="3600"/>
            </a:lvl1pPr>
          </a:lstStyle>
          <a:p>
            <a:r>
              <a:rPr lang="en-US" noProof="0"/>
              <a:t>APPENDIX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8B302A-0F76-466E-9FCE-DCEECCBCF6C9}"/>
              </a:ext>
            </a:extLst>
          </p:cNvPr>
          <p:cNvGrpSpPr/>
          <p:nvPr userDrawn="1"/>
        </p:nvGrpSpPr>
        <p:grpSpPr>
          <a:xfrm>
            <a:off x="4736152" y="1509426"/>
            <a:ext cx="2719696" cy="100800"/>
            <a:chOff x="4732222" y="1509426"/>
            <a:chExt cx="2719696" cy="1008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4732222" y="1509426"/>
              <a:ext cx="2669296" cy="100800"/>
              <a:chOff x="1693969" y="3240138"/>
              <a:chExt cx="1740431" cy="10080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/>
              <p:nvPr userDrawn="1"/>
            </p:nvCxnSpPr>
            <p:spPr>
              <a:xfrm>
                <a:off x="1693969" y="3290538"/>
                <a:ext cx="169003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27C0C4F-6341-4BE0-931E-AAA6EA2AF137}"/>
                </a:ext>
              </a:extLst>
            </p:cNvPr>
            <p:cNvSpPr/>
            <p:nvPr userDrawn="1"/>
          </p:nvSpPr>
          <p:spPr>
            <a:xfrm flipH="1">
              <a:off x="7351117" y="1509426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5764489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s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anchor="b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TESTIMONIALS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7773282" y="1375202"/>
            <a:ext cx="4418718" cy="100800"/>
            <a:chOff x="675503" y="3240138"/>
            <a:chExt cx="2758897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5503" y="3290538"/>
              <a:ext cx="270849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22459" y="4996962"/>
            <a:ext cx="1625324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Customer Title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22459" y="4191894"/>
            <a:ext cx="1625324" cy="720726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</a:t>
            </a:r>
            <a:br>
              <a:rPr lang="en-US" noProof="0"/>
            </a:br>
            <a:r>
              <a:rPr lang="en-US" noProof="0"/>
              <a:t>text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447783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flipV="1">
            <a:off x="3000995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92A7B-1C40-4AEB-92C3-C35F8C01F1F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3253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E312F1-B417-47B6-97E4-7CCA31034F82}"/>
              </a:ext>
            </a:extLst>
          </p:cNvPr>
          <p:cNvSpPr/>
          <p:nvPr userDrawn="1"/>
        </p:nvSpPr>
        <p:spPr>
          <a:xfrm>
            <a:off x="2950595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3DB5D84-04D8-4536-A06B-AED76E7C51D7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586638" y="4996962"/>
            <a:ext cx="1625324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Customer Title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3AB0AC7E-7919-422E-95A1-82E8B125756D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4586638" y="4191894"/>
            <a:ext cx="1625324" cy="720726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</a:t>
            </a:r>
            <a:br>
              <a:rPr lang="en-US" noProof="0"/>
            </a:br>
            <a:r>
              <a:rPr lang="en-US" noProof="0"/>
              <a:t>text</a:t>
            </a:r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B44FD76B-D1AE-458B-AF32-E4AA246B0881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211962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7D22CD4-7F86-495D-B381-7D706058B916}"/>
              </a:ext>
            </a:extLst>
          </p:cNvPr>
          <p:cNvCxnSpPr>
            <a:cxnSpLocks/>
          </p:cNvCxnSpPr>
          <p:nvPr userDrawn="1"/>
        </p:nvCxnSpPr>
        <p:spPr>
          <a:xfrm flipV="1">
            <a:off x="6765174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1BA0EB90-BA97-4A18-AD3D-1E839B636DE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56743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D057A87-963C-4F8A-BD4C-959BF8AF699B}"/>
              </a:ext>
            </a:extLst>
          </p:cNvPr>
          <p:cNvSpPr/>
          <p:nvPr userDrawn="1"/>
        </p:nvSpPr>
        <p:spPr>
          <a:xfrm>
            <a:off x="6714774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B6BAFE05-9EC0-4C3C-AB0F-89A83361452F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8350818" y="4992196"/>
            <a:ext cx="1625324" cy="328343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Customer Title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290BF8E2-78CA-4427-9231-3C5EDC272DEE}"/>
              </a:ext>
            </a:extLst>
          </p:cNvPr>
          <p:cNvSpPr>
            <a:spLocks noGrp="1"/>
          </p:cNvSpPr>
          <p:nvPr>
            <p:ph type="body" idx="55" hasCustomPrompt="1"/>
          </p:nvPr>
        </p:nvSpPr>
        <p:spPr>
          <a:xfrm>
            <a:off x="8350818" y="4187128"/>
            <a:ext cx="1625324" cy="720726"/>
          </a:xfrm>
        </p:spPr>
        <p:txBody>
          <a:bodyPr lIns="0" tIns="0" rIns="0" bIns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</a:t>
            </a:r>
            <a:br>
              <a:rPr lang="en-US" noProof="0"/>
            </a:br>
            <a:r>
              <a:rPr lang="en-US" noProof="0"/>
              <a:t>text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ACA8732F-AB9E-4253-BB5A-5ADD5BA9B15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976142" y="4430694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B9A566A-8C97-4AE6-B9EF-701587499889}"/>
              </a:ext>
            </a:extLst>
          </p:cNvPr>
          <p:cNvCxnSpPr>
            <a:cxnSpLocks/>
          </p:cNvCxnSpPr>
          <p:nvPr userDrawn="1"/>
        </p:nvCxnSpPr>
        <p:spPr>
          <a:xfrm flipV="1">
            <a:off x="10529354" y="3980054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Placeholder 3">
            <a:extLst>
              <a:ext uri="{FF2B5EF4-FFF2-40B4-BE49-F238E27FC236}">
                <a16:creationId xmlns:a16="http://schemas.microsoft.com/office/drawing/2014/main" id="{45B69021-5E85-4B37-B529-366AC57512F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33161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407CD49-808A-445A-96C0-E3083C9FB390}"/>
              </a:ext>
            </a:extLst>
          </p:cNvPr>
          <p:cNvSpPr/>
          <p:nvPr userDrawn="1"/>
        </p:nvSpPr>
        <p:spPr>
          <a:xfrm>
            <a:off x="10478954" y="3925610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41312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980591"/>
            <a:ext cx="4187903" cy="117717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610893"/>
            <a:ext cx="4168311" cy="189753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319328"/>
            <a:ext cx="3866400" cy="100800"/>
            <a:chOff x="-1228304" y="3240138"/>
            <a:chExt cx="3866400" cy="1008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816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537296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82DA762C-1D45-43AA-9DB3-3D8DBE3EACF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267325" y="1126345"/>
            <a:ext cx="6086475" cy="2662466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4C3C1BF4-C955-4D71-87E4-BE0F7B61957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269967" y="3909256"/>
            <a:ext cx="6086475" cy="1822399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5956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Phone and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94387"/>
            <a:ext cx="5314072" cy="569086"/>
          </a:xfrm>
        </p:spPr>
        <p:txBody>
          <a:bodyPr lIns="0" tIns="0" rIns="0" bIns="0"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2212679"/>
            <a:ext cx="5292725" cy="978407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970230"/>
            <a:ext cx="6096000" cy="100800"/>
            <a:chOff x="646015" y="3248308"/>
            <a:chExt cx="3107749" cy="1008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6B07E0-C579-4C5F-9AD4-6AF791562924}"/>
              </a:ext>
            </a:extLst>
          </p:cNvPr>
          <p:cNvSpPr/>
          <p:nvPr userDrawn="1"/>
        </p:nvSpPr>
        <p:spPr>
          <a:xfrm>
            <a:off x="963549" y="1819285"/>
            <a:ext cx="4306824" cy="3648456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rcRect/>
            <a:stretch>
              <a:fillRect t="-195" b="-19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639F99-011E-49CF-8ABD-A4DB4439FB4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15505" y="1976894"/>
            <a:ext cx="1819656" cy="3108960"/>
          </a:xfrm>
          <a:ln w="2540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028483B2-B562-448D-AEE1-556BC9366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02188" y="3517926"/>
            <a:ext cx="2057400" cy="1819656"/>
          </a:xfrm>
          <a:ln w="25400">
            <a:solidFill>
              <a:schemeClr val="tx2"/>
            </a:solidFill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5763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2737603-04DB-411C-B2D9-BDFF9AEE89D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05A03A4-E79C-49C5-A546-FF8E2D42E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3319" y="3054194"/>
            <a:ext cx="1645920" cy="618756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EA27EF7-FC6B-496C-B737-B9219950367E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1384584" y="2023761"/>
            <a:ext cx="2469965" cy="982274"/>
          </a:xfrm>
        </p:spPr>
        <p:txBody>
          <a:bodyPr lIns="0" rIns="0" bIns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Master text</a:t>
            </a:r>
            <a:br>
              <a:rPr lang="en-US" noProof="0"/>
            </a:br>
            <a:r>
              <a:rPr lang="en-US" noProof="0"/>
              <a:t>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6C0E2C30-6E91-49DE-B7A1-6E32A19EC81D}"/>
              </a:ext>
            </a:extLst>
          </p:cNvPr>
          <p:cNvSpPr>
            <a:spLocks noGrp="1"/>
          </p:cNvSpPr>
          <p:nvPr>
            <p:ph type="body" sz="half" idx="36"/>
          </p:nvPr>
        </p:nvSpPr>
        <p:spPr>
          <a:xfrm>
            <a:off x="2596444" y="3054194"/>
            <a:ext cx="1389888" cy="618756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 smtClean="0"/>
              <a:t>Edit Master text styles</a:t>
            </a:r>
          </a:p>
        </p:txBody>
      </p:sp>
      <p:sp>
        <p:nvSpPr>
          <p:cNvPr id="24" name="Picture Placeholder 12">
            <a:extLst>
              <a:ext uri="{FF2B5EF4-FFF2-40B4-BE49-F238E27FC236}">
                <a16:creationId xmlns:a16="http://schemas.microsoft.com/office/drawing/2014/main" id="{70BE5E73-C067-492F-BE30-5E3DADAD40E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75852" y="3731781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36A9B448-4FDC-41F7-941E-5BF5A129057A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499831" y="3731781"/>
            <a:ext cx="1636776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90B3A413-8776-4B3B-931F-C132DAB3A425}"/>
              </a:ext>
            </a:extLst>
          </p:cNvPr>
          <p:cNvSpPr>
            <a:spLocks noGrp="1"/>
          </p:cNvSpPr>
          <p:nvPr>
            <p:ph type="body" sz="half" idx="39"/>
          </p:nvPr>
        </p:nvSpPr>
        <p:spPr>
          <a:xfrm>
            <a:off x="4940427" y="3054194"/>
            <a:ext cx="2113508" cy="618756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 smtClean="0"/>
              <a:t>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BAD0CCD5-B712-4DB2-BFE3-4D3461B29F6D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5494328" y="2023761"/>
            <a:ext cx="1943702" cy="982274"/>
          </a:xfrm>
        </p:spPr>
        <p:txBody>
          <a:bodyPr lIns="0" rIns="0" bIns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Master text</a:t>
            </a:r>
            <a:br>
              <a:rPr lang="en-US" noProof="0"/>
            </a:br>
            <a:r>
              <a:rPr lang="en-US" noProof="0"/>
              <a:t>styles</a:t>
            </a:r>
          </a:p>
        </p:txBody>
      </p:sp>
      <p:sp>
        <p:nvSpPr>
          <p:cNvPr id="28" name="Picture Placeholder 12">
            <a:extLst>
              <a:ext uri="{FF2B5EF4-FFF2-40B4-BE49-F238E27FC236}">
                <a16:creationId xmlns:a16="http://schemas.microsoft.com/office/drawing/2014/main" id="{64125935-B0D3-4ABD-9BBA-A60E46D2C55C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946407" y="3731781"/>
            <a:ext cx="2048256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47D3BA4D-FA26-44C8-B927-E42CC8E67B79}"/>
              </a:ext>
            </a:extLst>
          </p:cNvPr>
          <p:cNvSpPr>
            <a:spLocks noGrp="1"/>
          </p:cNvSpPr>
          <p:nvPr>
            <p:ph type="body" sz="half" idx="45"/>
          </p:nvPr>
        </p:nvSpPr>
        <p:spPr>
          <a:xfrm>
            <a:off x="7900319" y="3054194"/>
            <a:ext cx="2197045" cy="618756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 smtClean="0"/>
              <a:t>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D2A84D7-2523-470B-A3C0-0140355D4F68}"/>
              </a:ext>
            </a:extLst>
          </p:cNvPr>
          <p:cNvSpPr>
            <a:spLocks noGrp="1"/>
          </p:cNvSpPr>
          <p:nvPr>
            <p:ph type="body" sz="half" idx="46" hasCustomPrompt="1"/>
          </p:nvPr>
        </p:nvSpPr>
        <p:spPr>
          <a:xfrm>
            <a:off x="8454220" y="2023761"/>
            <a:ext cx="1943702" cy="982274"/>
          </a:xfrm>
        </p:spPr>
        <p:txBody>
          <a:bodyPr lIns="0" rIns="0" bIns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Master text</a:t>
            </a:r>
            <a:br>
              <a:rPr lang="en-US" noProof="0"/>
            </a:br>
            <a:r>
              <a:rPr lang="en-US" noProof="0"/>
              <a:t>styles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55D1A91B-BB99-4DC7-B8F5-55514B49A9D1}"/>
              </a:ext>
            </a:extLst>
          </p:cNvPr>
          <p:cNvSpPr>
            <a:spLocks noGrp="1"/>
          </p:cNvSpPr>
          <p:nvPr>
            <p:ph type="body" sz="half" idx="49"/>
          </p:nvPr>
        </p:nvSpPr>
        <p:spPr>
          <a:xfrm>
            <a:off x="7900319" y="4671712"/>
            <a:ext cx="2223939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 smtClean="0"/>
              <a:t>Edit Master text styles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FFAB2C75-BBBF-4A4D-A633-7CEFFABAFE32}"/>
              </a:ext>
            </a:extLst>
          </p:cNvPr>
          <p:cNvSpPr>
            <a:spLocks noGrp="1"/>
          </p:cNvSpPr>
          <p:nvPr>
            <p:ph type="body" sz="half" idx="51"/>
          </p:nvPr>
        </p:nvSpPr>
        <p:spPr>
          <a:xfrm>
            <a:off x="4940427" y="4830765"/>
            <a:ext cx="2048256" cy="519503"/>
          </a:xfr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noProof="0" smtClean="0"/>
              <a:t>Edit Master text styles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83CD3289-0FBC-4854-8EB2-ADD41F89CA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3358" y="2023413"/>
            <a:ext cx="558402" cy="8961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7000" b="1">
                <a:ln>
                  <a:solidFill>
                    <a:schemeClr val="tx1"/>
                  </a:solidFill>
                </a:ln>
                <a:noFill/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2F18CD59-6602-4DEC-9B12-412E6BAF928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12823" y="1999493"/>
            <a:ext cx="558402" cy="8961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0"/>
              <a:t>1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88B09568-0B94-4B51-BE65-A72C65C3D7D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73424" y="2002966"/>
            <a:ext cx="558402" cy="8961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0"/>
              <a:t>1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315834F5-9ACD-4898-B96E-8C732881FF01}"/>
              </a:ext>
            </a:extLst>
          </p:cNvPr>
          <p:cNvSpPr>
            <a:spLocks noGrp="1"/>
          </p:cNvSpPr>
          <p:nvPr>
            <p:ph type="body" sz="half" idx="50"/>
          </p:nvPr>
        </p:nvSpPr>
        <p:spPr>
          <a:xfrm>
            <a:off x="2359124" y="5706529"/>
            <a:ext cx="8993089" cy="365122"/>
          </a:xfrm>
        </p:spPr>
        <p:txBody>
          <a:bodyPr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7E5CF6DE-4761-4BA5-A429-30AC8BBAD4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9" y="780001"/>
            <a:ext cx="10512424" cy="606677"/>
          </a:xfrm>
        </p:spPr>
        <p:txBody>
          <a:bodyPr lIns="0" tIns="0" rIns="0" bIns="0" anchor="t" anchorCtr="0">
            <a:norm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b="1" kern="1200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HOW TO USE THIS TEMPLATE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8A4896B5-1C5E-47F0-8F0C-4EF97E356C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00319" y="3779907"/>
            <a:ext cx="1481328" cy="758952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87F4783-C8BA-411C-A188-4A4DAED10C02}"/>
              </a:ext>
            </a:extLst>
          </p:cNvPr>
          <p:cNvGrpSpPr/>
          <p:nvPr userDrawn="1"/>
        </p:nvGrpSpPr>
        <p:grpSpPr>
          <a:xfrm flipH="1">
            <a:off x="4416000" y="1375202"/>
            <a:ext cx="7776000" cy="100800"/>
            <a:chOff x="-322289" y="3240138"/>
            <a:chExt cx="5070122" cy="1008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59A2713-966D-4694-A067-D6BE1B2986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89" y="3290538"/>
              <a:ext cx="5070122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CA15F19-C2FE-4F13-9359-69E884CA83B9}"/>
                </a:ext>
              </a:extLst>
            </p:cNvPr>
            <p:cNvSpPr/>
            <p:nvPr userDrawn="1"/>
          </p:nvSpPr>
          <p:spPr>
            <a:xfrm>
              <a:off x="4682109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535776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8196A9-689D-4410-BFC0-7ACB19755A0C}"/>
              </a:ext>
            </a:extLst>
          </p:cNvPr>
          <p:cNvSpPr/>
          <p:nvPr userDrawn="1"/>
        </p:nvSpPr>
        <p:spPr>
          <a:xfrm>
            <a:off x="0" y="0"/>
            <a:ext cx="12192000" cy="4416552"/>
          </a:xfrm>
          <a:prstGeom prst="rect">
            <a:avLst/>
          </a:prstGeom>
          <a:blipFill>
            <a:blip r:embed="rId2"/>
            <a:srcRect/>
            <a:stretch>
              <a:fillRect l="-842" r="-84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3619265" y="2253996"/>
            <a:ext cx="4953471" cy="100584"/>
            <a:chOff x="3631692" y="2253996"/>
            <a:chExt cx="4953471" cy="10058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3631692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8484579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4652581" y="5305363"/>
            <a:ext cx="2886839" cy="100584"/>
            <a:chOff x="3631690" y="2253996"/>
            <a:chExt cx="5028467" cy="10058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8484578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41896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33599"/>
            <a:ext cx="4618957" cy="2492461"/>
          </a:xfrm>
        </p:spPr>
        <p:txBody>
          <a:bodyPr lIns="0" tIns="0" rIns="0" bIns="0" anchor="b" anchorCtr="0">
            <a:noAutofit/>
          </a:bodyPr>
          <a:lstStyle>
            <a:lvl1pPr>
              <a:defRPr sz="6000"/>
            </a:lvl1pPr>
          </a:lstStyle>
          <a:p>
            <a:r>
              <a:rPr lang="en-US" noProof="0"/>
              <a:t>PITCH</a:t>
            </a:r>
            <a:br>
              <a:rPr lang="en-US" noProof="0"/>
            </a:br>
            <a:r>
              <a:rPr lang="en-US" noProof="0"/>
              <a:t>DECK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‹#›</a:t>
            </a:fld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1947412"/>
            <a:ext cx="2520148" cy="102440"/>
            <a:chOff x="3631690" y="2252140"/>
            <a:chExt cx="4389743" cy="1024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5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7845854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654084"/>
            <a:ext cx="2520148" cy="100584"/>
            <a:chOff x="3631690" y="2253996"/>
            <a:chExt cx="4389742" cy="100584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4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7845853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Subtitle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889444"/>
            <a:ext cx="4618957" cy="590626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91958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A943F6-C418-4339-8C7E-A12127BDE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777"/>
            <a:ext cx="10515600" cy="453429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84468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6FE9A2-5CE4-4652-97CE-3FF947D548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D6D4E1-CC57-4556-9CB7-31B375477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9497"/>
            <a:ext cx="5181600" cy="454371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AE7A31C-D605-4363-B037-1938B9304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59497"/>
            <a:ext cx="5181600" cy="4543719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84915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B5E40D-C1A5-4C5A-BBA0-C3E41F028D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5C650EE-495E-44EB-870B-AC85B18EB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56955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7DCC2A5-8A6A-431F-BD6C-93E32539A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03414"/>
            <a:ext cx="5157787" cy="3397631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FE620E9-8AD3-4771-8897-E65B461E2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56955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B75F265B-9F81-4A64-A8D4-7D0A31CEA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03414"/>
            <a:ext cx="5183188" cy="3397631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408030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AE79E65-3D1E-4444-9BD4-8578BF0C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79995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1D23A006-AC57-4A0B-BC20-6D226A80C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853051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05564D-C546-470F-B93C-274AA86CE0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E102DC0-E499-4C34-9CD9-CDABF71081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0819" y="2355057"/>
            <a:ext cx="9250363" cy="21478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39916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05564D-C546-470F-B93C-274AA86CE0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545300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9E60A5F-CE74-4F00-A5C2-F9742DDFFF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 dirty="0"/>
              <a:t>MM.DD.20XX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171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67058B-89E0-4460-AB21-21747CB3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1C5EB-04D6-4050-930C-5F6907528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2220F-109C-4A57-81E9-C6279EDA1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5404F-F26F-42E5-BA15-C0373FC1C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25174-FA04-488F-9F0C-3CD1D1483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8643" y="5879656"/>
            <a:ext cx="354492" cy="297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fld id="{8D581BC7-E183-40DB-AC97-C19EA4EB8894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EF1588-F385-48F3-800A-554A9423E77A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B0943-F568-4674-8FA4-B435B1E466AF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2DE7FD5-7941-43A1-8663-42AE40546A4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791EE5-EF06-4BF8-84C6-EC24114E73F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86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90" r:id="rId33"/>
    <p:sldLayoutId id="2147483691" r:id="rId34"/>
    <p:sldLayoutId id="2147483688" r:id="rId35"/>
    <p:sldLayoutId id="2147483692" r:id="rId36"/>
    <p:sldLayoutId id="2147483689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27" userDrawn="1">
          <p15:clr>
            <a:srgbClr val="F26B43"/>
          </p15:clr>
        </p15:guide>
        <p15:guide id="2" pos="7174" userDrawn="1">
          <p15:clr>
            <a:srgbClr val="F26B43"/>
          </p15:clr>
        </p15:guide>
        <p15:guide id="3" pos="506" userDrawn="1">
          <p15:clr>
            <a:srgbClr val="F26B43"/>
          </p15:clr>
        </p15:guide>
        <p15:guide id="4" orient="horz" pos="3793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3318" userDrawn="1">
          <p15:clr>
            <a:srgbClr val="F26B43"/>
          </p15:clr>
        </p15:guide>
        <p15:guide id="8" pos="43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F6FF42-70E3-4A7F-B5D8-2928FCB71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AuditGuard: Excel </a:t>
            </a:r>
            <a:r>
              <a:rPr lang="en-US" dirty="0" smtClean="0"/>
              <a:t>Dashboard</a:t>
            </a:r>
            <a:endParaRPr lang="ru-RU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40A11AA-C85D-4AF4-92B2-0F4E36F4EC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Tevin Ochieng’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F40A11AA-C85D-4AF4-92B2-0F4E36F4EC91}"/>
              </a:ext>
            </a:extLst>
          </p:cNvPr>
          <p:cNvSpPr txBox="1">
            <a:spLocks/>
          </p:cNvSpPr>
          <p:nvPr/>
        </p:nvSpPr>
        <p:spPr>
          <a:xfrm>
            <a:off x="1524000" y="1173892"/>
            <a:ext cx="9144000" cy="1132784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Segoe UI Semibold" panose="020B07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 Data Africa in Collaboration with DataCamp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Cohort 3, 2025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04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B26A0-76B0-4D92-8A3B-F4FB7FCBB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770" y="509358"/>
            <a:ext cx="5021940" cy="49153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Problem Definition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184F8-7D3E-4F39-85DA-53F65AF61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8643" y="1000897"/>
            <a:ext cx="4205904" cy="1977081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>
                <a:solidFill>
                  <a:schemeClr val="bg2"/>
                </a:solidFill>
              </a:rPr>
              <a:t>The Big 4 consulting firms—Ernst &amp; Young (EY), PwC, Deloitte, and KPMG—handle numerous audit engagements across </a:t>
            </a:r>
            <a:r>
              <a:rPr lang="en-US" sz="1400" b="0" dirty="0" smtClean="0">
                <a:solidFill>
                  <a:schemeClr val="bg2"/>
                </a:solidFill>
              </a:rPr>
              <a:t>various industries</a:t>
            </a:r>
            <a:r>
              <a:rPr lang="en-US" sz="1400" b="0" dirty="0">
                <a:solidFill>
                  <a:schemeClr val="bg2"/>
                </a:solidFill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>
                <a:solidFill>
                  <a:schemeClr val="bg2"/>
                </a:solidFill>
              </a:rPr>
              <a:t>T</a:t>
            </a:r>
            <a:r>
              <a:rPr lang="en-US" sz="1400" b="0" dirty="0" smtClean="0">
                <a:solidFill>
                  <a:schemeClr val="bg2"/>
                </a:solidFill>
              </a:rPr>
              <a:t>heir clientele from sectors namely; Tech, Retail, Healthcare and Finance </a:t>
            </a:r>
            <a:r>
              <a:rPr lang="en-US" sz="1400" b="0" dirty="0">
                <a:solidFill>
                  <a:schemeClr val="bg2"/>
                </a:solidFill>
              </a:rPr>
              <a:t>face growing risks related to fraud, compliance violations, and audit effectiveness</a:t>
            </a:r>
            <a:r>
              <a:rPr lang="en-US" sz="1400" b="0" dirty="0" smtClean="0">
                <a:solidFill>
                  <a:schemeClr val="bg2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0" dirty="0" smtClean="0">
                <a:solidFill>
                  <a:schemeClr val="bg2"/>
                </a:solidFill>
              </a:rPr>
              <a:t>As such, the task is to help clients who are potential investors in any of the aforementioned sectors decide what industry is best to invest in based on a 5Yr analysis of audits carried out by the Big 4.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b="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b="0" dirty="0">
              <a:solidFill>
                <a:schemeClr val="bg2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BC30F8-1890-4494-869A-DCD11E9F5FF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815720" y="3089934"/>
            <a:ext cx="4215201" cy="2581817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chemeClr val="bg2"/>
                </a:solidFill>
              </a:rPr>
              <a:t>This Dashboard seeks to help potential future investors assess the following;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2"/>
                </a:solidFill>
              </a:rPr>
              <a:t>What sector has the least compliance breach rate?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2"/>
                </a:solidFill>
              </a:rPr>
              <a:t>What sector has the highest Client Satisfaction Score?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2"/>
                </a:solidFill>
              </a:rPr>
              <a:t>Which sector had the highest revenue impact and by how much?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2"/>
                </a:solidFill>
              </a:rPr>
              <a:t>Does AI usage result in higher audit effectiveness and as a result higher revenue impact?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20" name="Picture Placeholder 19" descr="Abstract background">
            <a:extLst>
              <a:ext uri="{FF2B5EF4-FFF2-40B4-BE49-F238E27FC236}">
                <a16:creationId xmlns:a16="http://schemas.microsoft.com/office/drawing/2014/main" id="{61169563-0C6E-483D-91B6-7AB8952A8FA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91C663-2D66-4255-91B4-906F720E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0B83D80-B29B-48B9-9B34-76AD9399E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AuditGuard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C88EDC-DE1B-4E22-AB2A-B461D5C8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04.11.2025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C19D996-1EAD-4EC5-92CC-5A60F9A9E91F}"/>
              </a:ext>
            </a:extLst>
          </p:cNvPr>
          <p:cNvSpPr txBox="1">
            <a:spLocks/>
          </p:cNvSpPr>
          <p:nvPr/>
        </p:nvSpPr>
        <p:spPr>
          <a:xfrm>
            <a:off x="6903155" y="1000897"/>
            <a:ext cx="4482996" cy="12727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sz="1300" dirty="0" smtClean="0">
                <a:solidFill>
                  <a:schemeClr val="bg2"/>
                </a:solidFill>
              </a:rPr>
              <a:t>Addressing the aforementioned questions on behalf of potential investors will help in making a decision what sector/industry they are best suited to invest in based on various factors.</a:t>
            </a:r>
          </a:p>
          <a:p>
            <a:endParaRPr lang="en-US" sz="13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111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04.11.2025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AuditGuard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6"/>
          </p:nvPr>
        </p:nvSpPr>
        <p:spPr>
          <a:xfrm>
            <a:off x="1169960" y="2279249"/>
            <a:ext cx="978408" cy="9784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>
          <a:xfrm>
            <a:off x="4871314" y="3975902"/>
            <a:ext cx="2944368" cy="1715216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chemeClr val="bg2"/>
                </a:solidFill>
                <a:cs typeface="Times New Roman" panose="02020603050405020304" pitchFamily="18" charset="0"/>
              </a:rPr>
              <a:t>data source</a:t>
            </a:r>
            <a:r>
              <a:rPr 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 (Kaggle: Big 4 firms - EY, PwC, Deloitte, KPMG) was </a:t>
            </a:r>
            <a:r>
              <a:rPr lang="en-US" b="1" dirty="0">
                <a:solidFill>
                  <a:schemeClr val="bg2"/>
                </a:solidFill>
                <a:cs typeface="Times New Roman" panose="02020603050405020304" pitchFamily="18" charset="0"/>
              </a:rPr>
              <a:t>credible and industry-focused</a:t>
            </a:r>
            <a:r>
              <a:rPr 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, ensuring high relevance. Rated at a 10.0 Usability by users.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>
          <a:xfrm>
            <a:off x="8601303" y="3946925"/>
            <a:ext cx="2944368" cy="1419822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The dataset included multiple dimensions (firm, industry, year, audit effectiveness, financial impact), allowing for detailed insights rather than isolated data points.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0C01CE71-FC76-4B08-B6CF-991940C3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&amp; Organization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32AE43E3-E3DE-481E-9B87-7B1F8783A60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179318" y="3460918"/>
            <a:ext cx="2944368" cy="328343"/>
          </a:xfrm>
        </p:spPr>
        <p:txBody>
          <a:bodyPr/>
          <a:lstStyle/>
          <a:p>
            <a:r>
              <a:rPr lang="en-US" dirty="0"/>
              <a:t>Data Collection Process</a:t>
            </a:r>
            <a:endParaRPr lang="ru-RU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A88F02AC-2ACE-4B6E-9181-99EBB08906B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141325" y="3975903"/>
            <a:ext cx="2944368" cy="1902818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The dataset, covering financial risk assessment from </a:t>
            </a:r>
            <a:r>
              <a:rPr lang="en-US" b="1" dirty="0">
                <a:solidFill>
                  <a:schemeClr val="bg2"/>
                </a:solidFill>
                <a:cs typeface="Times New Roman" panose="02020603050405020304" pitchFamily="18" charset="0"/>
              </a:rPr>
              <a:t>2020 to 2025</a:t>
            </a:r>
            <a:r>
              <a:rPr 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, was </a:t>
            </a:r>
            <a:r>
              <a:rPr lang="en-US" b="1" dirty="0">
                <a:solidFill>
                  <a:schemeClr val="bg2"/>
                </a:solidFill>
                <a:cs typeface="Times New Roman" panose="02020603050405020304" pitchFamily="18" charset="0"/>
              </a:rPr>
              <a:t>clearly structured</a:t>
            </a:r>
            <a:r>
              <a:rPr lang="en-US" dirty="0">
                <a:solidFill>
                  <a:schemeClr val="bg2"/>
                </a:solidFill>
                <a:cs typeface="Times New Roman" panose="02020603050405020304" pitchFamily="18" charset="0"/>
              </a:rPr>
              <a:t> with relevant metrics (e.g., fraud cases, compliance violations, AI usage in auditing</a:t>
            </a:r>
            <a:r>
              <a:rPr lang="en-US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endParaRPr lang="en-US" dirty="0" smtClean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endParaRPr lang="en-US" dirty="0" smtClean="0">
              <a:solidFill>
                <a:schemeClr val="bg2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42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04.11.2025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AuditGuard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>
          <a:xfrm>
            <a:off x="5723930" y="3881995"/>
            <a:ext cx="2944368" cy="171521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Checked for duplicates, missing values and inconsistencies via the Column quality, Column distribution options in the View optionality in Data Transformation in Power BI.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0C01CE71-FC76-4B08-B6CF-991940C3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&amp; Organization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A88F02AC-2ACE-4B6E-9181-99EBB08906B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141325" y="3975903"/>
            <a:ext cx="2944368" cy="1902818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Standardization of numerical data</a:t>
            </a:r>
            <a:r>
              <a:rPr lang="en-US" dirty="0">
                <a:solidFill>
                  <a:schemeClr val="bg2"/>
                </a:solidFill>
              </a:rPr>
              <a:t> (e.g., revenue impact in $) ensured uniform reporting across firms.</a:t>
            </a:r>
          </a:p>
          <a:p>
            <a:pPr marL="0" indent="0">
              <a:buNone/>
            </a:pPr>
            <a:endParaRPr lang="en-US" dirty="0" smtClean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 smtClean="0">
              <a:solidFill>
                <a:schemeClr val="bg2"/>
              </a:solidFill>
              <a:cs typeface="Times New Roman" panose="02020603050405020304" pitchFamily="18" charset="0"/>
            </a:endParaRPr>
          </a:p>
          <a:p>
            <a:endParaRPr lang="en-US" dirty="0" smtClean="0">
              <a:solidFill>
                <a:schemeClr val="bg2"/>
              </a:solidFill>
              <a:cs typeface="Times New Roman" panose="02020603050405020304" pitchFamily="18" charset="0"/>
            </a:endParaRPr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28"/>
          </p:nvPr>
        </p:nvSpPr>
        <p:spPr>
          <a:xfrm>
            <a:off x="1133135" y="2295868"/>
            <a:ext cx="978408" cy="9784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2AE43E3-E3DE-481E-9B87-7B1F8783A606}"/>
              </a:ext>
            </a:extLst>
          </p:cNvPr>
          <p:cNvSpPr txBox="1">
            <a:spLocks/>
          </p:cNvSpPr>
          <p:nvPr/>
        </p:nvSpPr>
        <p:spPr>
          <a:xfrm>
            <a:off x="955889" y="3325964"/>
            <a:ext cx="4421856" cy="556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2"/>
                </a:solidFill>
                <a:latin typeface="+mj-lt"/>
              </a:rPr>
              <a:t>Data Preprocessing &amp; Cleaning</a:t>
            </a:r>
            <a:endParaRPr lang="ru-RU" sz="2000" b="1" dirty="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0359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04.11.2025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AuditGuard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noProof="0" smtClean="0"/>
              <a:t>5</a:t>
            </a:fld>
            <a:endParaRPr lang="en-US" noProof="0" dirty="0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0C01CE71-FC76-4B08-B6CF-991940C3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&amp; Organization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31"/>
          </p:nvPr>
        </p:nvSpPr>
        <p:spPr>
          <a:xfrm>
            <a:off x="1133135" y="2295868"/>
            <a:ext cx="978408" cy="978408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7292DFE-EBA3-4DB2-A2C7-1810115565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9403" y="3274276"/>
            <a:ext cx="4918911" cy="701626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solidFill>
                  <a:schemeClr val="bg2"/>
                </a:solidFill>
                <a:latin typeface="+mj-lt"/>
              </a:rPr>
              <a:t>Project Structuring &amp; Step Breakdown</a:t>
            </a:r>
            <a:endParaRPr lang="ru-RU" sz="2000" b="1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E209D92-7413-44EE-BC90-ECE50DA3158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133135" y="3781924"/>
            <a:ext cx="5216720" cy="209679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chemeClr val="bg2"/>
                </a:solidFill>
              </a:rPr>
              <a:t>The project was systematically broken down into five </a:t>
            </a:r>
            <a:r>
              <a:rPr lang="en-US" sz="1300" dirty="0" smtClean="0">
                <a:solidFill>
                  <a:schemeClr val="bg2"/>
                </a:solidFill>
              </a:rPr>
              <a:t>steps, </a:t>
            </a:r>
            <a:r>
              <a:rPr lang="en-US" sz="1300" dirty="0">
                <a:solidFill>
                  <a:schemeClr val="bg2"/>
                </a:solidFill>
              </a:rPr>
              <a:t>each tackling a specific analytical question</a:t>
            </a:r>
            <a:r>
              <a:rPr lang="en-US" sz="1300" dirty="0" smtClean="0">
                <a:solidFill>
                  <a:schemeClr val="bg2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300" dirty="0" smtClean="0">
                <a:solidFill>
                  <a:schemeClr val="bg2"/>
                </a:solidFill>
              </a:rPr>
              <a:t>Step </a:t>
            </a:r>
            <a:r>
              <a:rPr lang="en-US" sz="1300" dirty="0">
                <a:solidFill>
                  <a:schemeClr val="bg2"/>
                </a:solidFill>
              </a:rPr>
              <a:t>1</a:t>
            </a:r>
            <a:r>
              <a:rPr lang="en-US" sz="1300" dirty="0" smtClean="0">
                <a:solidFill>
                  <a:schemeClr val="bg2"/>
                </a:solidFill>
              </a:rPr>
              <a:t>: Data Cleaning and Transformation</a:t>
            </a:r>
            <a:endParaRPr lang="en-US" sz="1300" dirty="0" smtClean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bg2"/>
                </a:solidFill>
              </a:rPr>
              <a:t>Step</a:t>
            </a:r>
            <a:r>
              <a:rPr lang="en-US" sz="1300" dirty="0" smtClean="0">
                <a:solidFill>
                  <a:schemeClr val="bg2"/>
                </a:solidFill>
              </a:rPr>
              <a:t> </a:t>
            </a:r>
            <a:r>
              <a:rPr lang="en-US" sz="1300" dirty="0">
                <a:solidFill>
                  <a:schemeClr val="bg2"/>
                </a:solidFill>
              </a:rPr>
              <a:t>2: </a:t>
            </a:r>
            <a:r>
              <a:rPr lang="en-US" sz="1300" dirty="0" smtClean="0">
                <a:solidFill>
                  <a:schemeClr val="bg2"/>
                </a:solidFill>
              </a:rPr>
              <a:t>Creating New Measures</a:t>
            </a:r>
            <a:endParaRPr lang="en-US" sz="1300" dirty="0" smtClean="0">
              <a:solidFill>
                <a:schemeClr val="bg2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300" dirty="0" smtClean="0">
                <a:solidFill>
                  <a:schemeClr val="bg2"/>
                </a:solidFill>
              </a:rPr>
              <a:t>Step </a:t>
            </a:r>
            <a:r>
              <a:rPr lang="en-US" sz="1300" dirty="0">
                <a:solidFill>
                  <a:schemeClr val="bg2"/>
                </a:solidFill>
              </a:rPr>
              <a:t>3: </a:t>
            </a:r>
            <a:r>
              <a:rPr lang="en-US" sz="1300" dirty="0" smtClean="0">
                <a:solidFill>
                  <a:schemeClr val="bg2"/>
                </a:solidFill>
              </a:rPr>
              <a:t>Pivot Tables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bg2"/>
                </a:solidFill>
              </a:rPr>
              <a:t>Step 4: Creating Pivot </a:t>
            </a:r>
            <a:r>
              <a:rPr lang="en-US" sz="1300" dirty="0" smtClean="0">
                <a:solidFill>
                  <a:schemeClr val="bg2"/>
                </a:solidFill>
              </a:rPr>
              <a:t>Charts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chemeClr val="bg2"/>
                </a:solidFill>
              </a:rPr>
              <a:t>Step 5: Creating </a:t>
            </a:r>
            <a:r>
              <a:rPr lang="en-US" sz="1300" dirty="0" smtClean="0">
                <a:solidFill>
                  <a:schemeClr val="bg2"/>
                </a:solidFill>
              </a:rPr>
              <a:t>Slicers</a:t>
            </a:r>
            <a:endParaRPr lang="en-US" sz="1300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sz="1300" dirty="0" smtClean="0">
              <a:solidFill>
                <a:schemeClr val="bg2"/>
              </a:solidFill>
            </a:endParaRP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7E209D92-7413-44EE-BC90-ECE50DA3158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433587" y="3768459"/>
            <a:ext cx="5216720" cy="209679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300" dirty="0" smtClean="0">
                <a:solidFill>
                  <a:schemeClr val="bg2"/>
                </a:solidFill>
              </a:rPr>
              <a:t>Step 6: Connecting Slicers to All Pivot Tables Added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300" dirty="0" smtClean="0">
                <a:solidFill>
                  <a:schemeClr val="bg2"/>
                </a:solidFill>
              </a:rPr>
              <a:t>Step 7: Dashboard Layout Design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300" dirty="0" smtClean="0">
                <a:solidFill>
                  <a:schemeClr val="bg2"/>
                </a:solidFill>
              </a:rPr>
              <a:t>Step 8: Adding Chart Elements, KPI’s and Slicers to Dashboard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300" dirty="0" smtClean="0">
                <a:solidFill>
                  <a:schemeClr val="bg2"/>
                </a:solidFill>
              </a:rPr>
              <a:t>Step 9: Fine Tuning Dashboard Interactivity to-and-from Recommendations Page.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300" dirty="0" smtClean="0">
                <a:solidFill>
                  <a:schemeClr val="bg2"/>
                </a:solidFill>
              </a:rPr>
              <a:t>Step 10: Analyzing the Dashboard to answer the Problem Definition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300" dirty="0" smtClean="0">
                <a:solidFill>
                  <a:schemeClr val="bg2"/>
                </a:solidFill>
              </a:rPr>
              <a:t>Step 11: Derive Major </a:t>
            </a:r>
            <a:r>
              <a:rPr lang="en-US" sz="1300" dirty="0">
                <a:solidFill>
                  <a:schemeClr val="bg2"/>
                </a:solidFill>
              </a:rPr>
              <a:t>R</a:t>
            </a:r>
            <a:r>
              <a:rPr lang="en-US" sz="1300" dirty="0" smtClean="0">
                <a:solidFill>
                  <a:schemeClr val="bg2"/>
                </a:solidFill>
              </a:rPr>
              <a:t>ecommendations to a Client (Potential Investor)</a:t>
            </a:r>
            <a:endParaRPr lang="en-US" sz="13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153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Abstract background&#10;">
            <a:extLst>
              <a:ext uri="{FF2B5EF4-FFF2-40B4-BE49-F238E27FC236}">
                <a16:creationId xmlns:a16="http://schemas.microsoft.com/office/drawing/2014/main" id="{3330B498-1497-4DA8-99F4-8F8159B24FF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F93F71D-1663-42FA-A91E-FA23F03F0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9784" y="1090118"/>
            <a:ext cx="4468940" cy="804338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  <a:endParaRPr lang="en-US" sz="32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19D996-1EAD-4EC5-92CC-5A60F9A9E91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40162" y="2162432"/>
            <a:ext cx="5857103" cy="371628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I'd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 a client seeking to venture into one of the four sectors to invest in the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 Sector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It's due to the fact that it's the only sector amongst those </a:t>
            </a:r>
            <a:r>
              <a:rPr lang="en-US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features in the 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2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Impact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1st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 Effectiveness Score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2nd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Satisfaction Score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2nd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addition, it would be advisable for the client, should they invest in the Retail Sector to prioritize utilizing the services of 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KPMG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Auditing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justified by KPMG having the highest </a:t>
            </a:r>
            <a:r>
              <a:rPr lang="en-US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Efficiency Ratio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0.97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which exceeds the Retail Sector's </a:t>
            </a:r>
            <a:r>
              <a:rPr lang="en-US" i="1" kern="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 </a:t>
            </a:r>
            <a:r>
              <a:rPr lang="en-US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0.86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That would imply KPMG manages to effectively detect 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0.97 Fraud Cases per Hour per Week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Retail Sector</a:t>
            </a: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C7D40-6709-40D4-B0FB-9D6311AF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81BC7-E183-40DB-AC97-C19EA4EB889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1DB817-586B-493A-922D-54010C888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AuditGuard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6AB769-C08B-4A71-BEE7-D771D2743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04.11.2025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29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F9A33A-E955-4DFB-9469-3FDBA670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804881-51D2-4A81-BABB-704FBED23E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Tevin Ochieng’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2C39EE-B4D3-4E49-BF2C-871A33509C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Phone:</a:t>
            </a:r>
            <a:endParaRPr lang="ru-R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DB312C-BF94-484C-BB02-2534E26CEC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 smtClean="0"/>
              <a:t>+254 798330510</a:t>
            </a: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3C87786-C7F5-4B45-904D-00CC865572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Email:</a:t>
            </a:r>
            <a:endParaRPr lang="ru-R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8E60535-F276-49C5-9346-D536D6899F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 smtClean="0"/>
              <a:t>vindevon11@gmail.com</a:t>
            </a:r>
            <a:endParaRPr lang="ru-RU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395049-FB9C-455B-8DCA-4BD0D35F1D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 smtClean="0"/>
              <a:t>GitHub:</a:t>
            </a:r>
            <a:endParaRPr lang="ru-R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55212BC-6862-4B56-B856-7A97BBD3D4F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smtClean="0"/>
              <a:t>www.github/BillyTevin11</a:t>
            </a:r>
            <a:endParaRPr lang="en-US" dirty="0"/>
          </a:p>
        </p:txBody>
      </p:sp>
      <p:pic>
        <p:nvPicPr>
          <p:cNvPr id="15" name="Picture Placeholder 14" descr="Abstract background">
            <a:extLst>
              <a:ext uri="{FF2B5EF4-FFF2-40B4-BE49-F238E27FC236}">
                <a16:creationId xmlns:a16="http://schemas.microsoft.com/office/drawing/2014/main" id="{72AD0CC3-F8DE-4C10-916A-24BC65B1D283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9567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BBBB"/>
      </a:dk1>
      <a:lt1>
        <a:srgbClr val="000000"/>
      </a:lt1>
      <a:dk2>
        <a:srgbClr val="999999"/>
      </a:dk2>
      <a:lt2>
        <a:srgbClr val="FFFFFF"/>
      </a:lt2>
      <a:accent1>
        <a:srgbClr val="004448"/>
      </a:accent1>
      <a:accent2>
        <a:srgbClr val="482845"/>
      </a:accent2>
      <a:accent3>
        <a:srgbClr val="7A0000"/>
      </a:accent3>
      <a:accent4>
        <a:srgbClr val="969959"/>
      </a:accent4>
      <a:accent5>
        <a:srgbClr val="225B5F"/>
      </a:accent5>
      <a:accent6>
        <a:srgbClr val="3D8C41"/>
      </a:accent6>
      <a:hlink>
        <a:srgbClr val="7F7F7F"/>
      </a:hlink>
      <a:folHlink>
        <a:srgbClr val="7F7F7F"/>
      </a:folHlink>
    </a:clrScheme>
    <a:fontScheme name="Custom 13">
      <a:majorFont>
        <a:latin typeface="Gill Sans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2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56488565_Futuristic pitch deck_AAS_v4" id="{81C854B4-8588-4171-B50E-9B042741D072}" vid="{97BC3161-E59E-4E12-8009-433621174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72965D8-9C19-4E48-8421-5D6B21FC44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743C61-8CA7-48FF-B2A3-6055DA854C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26A944-A9F4-4295-9B5E-C397EB1318B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Futuristic pitch deck</Template>
  <TotalTime>0</TotalTime>
  <Words>633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Arial</vt:lpstr>
      <vt:lpstr>Calibri</vt:lpstr>
      <vt:lpstr>Courier New</vt:lpstr>
      <vt:lpstr>Gill Sans MT</vt:lpstr>
      <vt:lpstr>Segoe UI</vt:lpstr>
      <vt:lpstr>Segoe UI Light</vt:lpstr>
      <vt:lpstr>Segoe UI Semibold</vt:lpstr>
      <vt:lpstr>Tahoma</vt:lpstr>
      <vt:lpstr>Times New Roman</vt:lpstr>
      <vt:lpstr>Wingdings</vt:lpstr>
      <vt:lpstr>Office Theme</vt:lpstr>
      <vt:lpstr>AuditGuard: Excel Dashboard</vt:lpstr>
      <vt:lpstr>Problem Definition</vt:lpstr>
      <vt:lpstr>Planning &amp; Organization</vt:lpstr>
      <vt:lpstr>Planning &amp; Organization</vt:lpstr>
      <vt:lpstr>Planning &amp; Organization</vt:lpstr>
      <vt:lpstr>Recommendations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2025-04-11T11:05:27Z</dcterms:created>
  <dcterms:modified xsi:type="dcterms:W3CDTF">2025-04-12T13:08:42Z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